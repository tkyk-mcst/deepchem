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97D"/>
    <a:srgbClr val="0E10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7"/>
    <p:restoredTop sz="88056"/>
  </p:normalViewPr>
  <p:slideViewPr>
    <p:cSldViewPr snapToGrid="0">
      <p:cViewPr>
        <p:scale>
          <a:sx n="117" d="100"/>
          <a:sy n="117" d="100"/>
        </p:scale>
        <p:origin x="154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4D4A3-0B77-7F4E-A7E3-B63419FDE904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DC509-984B-0140-9F07-8DC0ED0FFA2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58232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DC509-984B-0140-9F07-8DC0ED0FFA21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84515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6E2C-6197-F009-51A2-0853198C9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4078D-104E-ECD5-B8BB-2F03D13A5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BE713-CA47-1F5A-1B61-D7DAF1296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4A44-2C4D-C641-ADC2-CA1EF614A8AC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DF237-D8AA-FEC0-1D86-98FEFB6B0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7A659-D5AE-CD51-63E9-15C97164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FE41-B8A6-584C-8595-8CA212E3999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9525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74BF6-1FC7-EF24-D9B1-FBAD6BB1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B5D6F-1413-987E-3D69-02D571CE9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3C59A-0B7B-A106-37FE-ACE49F0AD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4A44-2C4D-C641-ADC2-CA1EF614A8AC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5A087-01F6-EBAF-F277-F970868FF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A5470-C259-828C-3189-A1E3189F5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FE41-B8A6-584C-8595-8CA212E3999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16463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0A9C-8CC2-44D8-C512-393543667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D0464-48DF-C1E8-64E7-A5873B705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5B5B8-EC96-62A8-F4CA-36BAD3BA4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4A44-2C4D-C641-ADC2-CA1EF614A8AC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E07FA-00F0-C788-1CCC-17A36EAF2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E712-8EF4-3132-90BF-A5EA16C5F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FE41-B8A6-584C-8595-8CA212E3999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4485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A064-C761-F3DB-EF77-A102BA6F0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B86BA-59A5-F417-B66D-0DC606033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85C90-20A9-6F4A-BEE8-67ABDA328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6E5FA-614B-7A3E-B871-FF1A6317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4A44-2C4D-C641-ADC2-CA1EF614A8AC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2D74D-1B87-E66F-3630-DF0B73103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5CE6B-DB9A-B863-72D5-A635F784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FE41-B8A6-584C-8595-8CA212E3999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16997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90DB-504E-BF67-37EC-76E14D71A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D78EA-3FA8-F0CD-0B78-C4E1B662F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04307-812E-A404-41DF-54D2FC8F8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CE13F-622B-626B-B559-F7407BEAA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B86A2-8418-D721-2B27-2851BE8DB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35F52F-8A01-7351-1504-D5CD563F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4A44-2C4D-C641-ADC2-CA1EF614A8AC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D99A3-B504-35C6-F378-4A55CF021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F6EFFD-B0CE-0F9F-4983-0CBA0BEB3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FE41-B8A6-584C-8595-8CA212E3999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5409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635D-5903-E7F8-4038-0A7F68AB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07284-D7F6-E9EF-D2CB-22DEAFA3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4A44-2C4D-C641-ADC2-CA1EF614A8AC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8C1CB-4F59-8543-8EDF-21D1DA067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AED33-17AA-6230-6A41-AA047D82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FE41-B8A6-584C-8595-8CA212E3999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41459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D2CF6-D55B-1913-9FAD-D636A9CC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4A44-2C4D-C641-ADC2-CA1EF614A8AC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8AA27E-9696-94B0-CD0D-3037CF7A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F8CAF-319E-5383-362F-4E2D5399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FE41-B8A6-584C-8595-8CA212E3999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5034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D3B5-1B79-6317-DA76-47C795295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77F3B-82EA-0691-062D-5501F8352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A7740-67EA-1406-3724-70169C2B1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4C7D0-4813-F2B9-C585-B5ADA4260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4A44-2C4D-C641-ADC2-CA1EF614A8AC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597A6-7F0D-0C21-B66C-99142AF8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83EF0-87D0-D90E-B480-01D69F64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FE41-B8A6-584C-8595-8CA212E3999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14991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EF46-A6BF-613C-58A3-BCB6A9E82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FF5988-79E6-270A-2BF1-9A1B0760B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C6587-8969-9E5D-7045-AB10DCFA6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B5260-261B-DBFF-9B1C-2485FC7B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4A44-2C4D-C641-ADC2-CA1EF614A8AC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541C2-993A-3C36-E745-0C226C1C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1AA2C-01FF-C15F-7A14-17F747EE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FE41-B8A6-584C-8595-8CA212E3999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9115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38C9-909F-9953-03B5-97D4E77A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37511-AEB7-F9A1-E79D-F840C3903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5E4DD-3493-15B4-CC1F-086329A3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4A44-2C4D-C641-ADC2-CA1EF614A8AC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0876E-D76C-18D9-AE2E-69C915847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8B3BB-83AE-F2B8-293B-F528E637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FE41-B8A6-584C-8595-8CA212E3999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27201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F384B6-1D08-0888-83AA-DA406A6886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75C24-66BC-D606-29AA-8BFE7D826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CC0A8-A640-1E1E-F526-8C53E596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4A44-2C4D-C641-ADC2-CA1EF614A8AC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03897-2410-7F54-36B6-1446C3FE5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5854B-BA5F-99DA-578A-12F24CB4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0FE41-B8A6-584C-8595-8CA212E3999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10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20D9A5-30B2-6EDB-19C6-CFEB2E449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D375E-F1AD-F4AE-B8DA-25016D060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96944-D56F-78B0-241B-27FC55BF6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44A44-2C4D-C641-ADC2-CA1EF614A8AC}" type="datetimeFigureOut">
              <a:rPr lang="en-JP" smtClean="0"/>
              <a:t>2026/04/30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0E83A-BDB9-75EC-CABF-2E7045BA0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4561A-F87F-986B-CA62-372910604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0FE41-B8A6-584C-8595-8CA212E3999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5659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C76DA5-8969-221C-1C46-FD5E2FC80728}"/>
              </a:ext>
            </a:extLst>
          </p:cNvPr>
          <p:cNvSpPr txBox="1"/>
          <p:nvPr/>
        </p:nvSpPr>
        <p:spPr>
          <a:xfrm>
            <a:off x="944823" y="191081"/>
            <a:ext cx="4208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/>
              <a:t>マルチシグマ</a:t>
            </a:r>
            <a:r>
              <a:rPr lang="en-US" altLang="ja-JP" sz="2800" b="1" dirty="0"/>
              <a:t> </a:t>
            </a:r>
            <a:r>
              <a:rPr lang="ja-JP" altLang="en-US" sz="2800" b="1"/>
              <a:t>アルケミー</a:t>
            </a:r>
            <a:endParaRPr lang="en-JP" sz="280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692D381-1B48-3E2F-0C96-5EEC1C54D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161" y="3624640"/>
            <a:ext cx="3666898" cy="28952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6DBF140-E897-D74A-CA6B-FC2D7883F716}"/>
              </a:ext>
            </a:extLst>
          </p:cNvPr>
          <p:cNvSpPr txBox="1"/>
          <p:nvPr/>
        </p:nvSpPr>
        <p:spPr>
          <a:xfrm>
            <a:off x="235252" y="1007934"/>
            <a:ext cx="366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1. </a:t>
            </a:r>
            <a:r>
              <a:rPr lang="ja-JP" altLang="en-US" sz="2400" b="1"/>
              <a:t>材料特性の生成</a:t>
            </a:r>
            <a:endParaRPr lang="en-JP" sz="2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8D94E9-7E91-0FCE-2C73-7D7B95CE3D02}"/>
              </a:ext>
            </a:extLst>
          </p:cNvPr>
          <p:cNvSpPr txBox="1"/>
          <p:nvPr/>
        </p:nvSpPr>
        <p:spPr>
          <a:xfrm>
            <a:off x="305448" y="1634171"/>
            <a:ext cx="352650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構成から材料の説明を抽出</a:t>
            </a:r>
            <a:endParaRPr lang="en-US" altLang="ja-JP" sz="2000" dirty="0"/>
          </a:p>
          <a:p>
            <a:r>
              <a:rPr lang="en-US" sz="1400" dirty="0"/>
              <a:t>(SMILES/</a:t>
            </a:r>
            <a:r>
              <a:rPr lang="ja-JP" altLang="en-US" sz="1400"/>
              <a:t>そせいしき</a:t>
            </a:r>
            <a:r>
              <a:rPr lang="en-US" sz="1400" dirty="0"/>
              <a:t>)</a:t>
            </a:r>
            <a:endParaRPr lang="en-JP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BA97A4-C94D-3F73-7CD5-2C6EDAA569FA}"/>
              </a:ext>
            </a:extLst>
          </p:cNvPr>
          <p:cNvSpPr txBox="1"/>
          <p:nvPr/>
        </p:nvSpPr>
        <p:spPr>
          <a:xfrm>
            <a:off x="4176510" y="1005750"/>
            <a:ext cx="366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b="1" dirty="0"/>
              <a:t>2. </a:t>
            </a:r>
            <a:r>
              <a:rPr lang="ja-JP" altLang="en-US" sz="2400" b="1"/>
              <a:t>材料特性の予測</a:t>
            </a:r>
            <a:endParaRPr lang="en-JP" sz="2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748FD0-70C4-238A-685E-2F0B3F4A3243}"/>
              </a:ext>
            </a:extLst>
          </p:cNvPr>
          <p:cNvSpPr txBox="1"/>
          <p:nvPr/>
        </p:nvSpPr>
        <p:spPr>
          <a:xfrm>
            <a:off x="4274400" y="1564723"/>
            <a:ext cx="3526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記述子を用いて材料特性を予測</a:t>
            </a:r>
            <a:endParaRPr lang="en-JP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3D6CC5-C27F-EF90-A65E-E39F3FD85209}"/>
              </a:ext>
            </a:extLst>
          </p:cNvPr>
          <p:cNvSpPr txBox="1"/>
          <p:nvPr/>
        </p:nvSpPr>
        <p:spPr>
          <a:xfrm>
            <a:off x="8117768" y="984461"/>
            <a:ext cx="366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b="1" dirty="0"/>
              <a:t>3. </a:t>
            </a:r>
            <a:r>
              <a:rPr lang="ja-JP" altLang="en-US" sz="2400" b="1"/>
              <a:t>材料特性データベース</a:t>
            </a:r>
            <a:endParaRPr lang="en-JP" sz="2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23A225-6E05-6013-50DA-71325D5BDE71}"/>
              </a:ext>
            </a:extLst>
          </p:cNvPr>
          <p:cNvSpPr txBox="1"/>
          <p:nvPr/>
        </p:nvSpPr>
        <p:spPr>
          <a:xfrm>
            <a:off x="8243352" y="1564723"/>
            <a:ext cx="3526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何百万もの素材を探索して最適な素材を見つけ</a:t>
            </a:r>
            <a:endParaRPr lang="en-JP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7E7E5B-278D-9507-B538-4FB9AB17A386}"/>
              </a:ext>
            </a:extLst>
          </p:cNvPr>
          <p:cNvSpPr txBox="1"/>
          <p:nvPr/>
        </p:nvSpPr>
        <p:spPr>
          <a:xfrm>
            <a:off x="8398556" y="2388489"/>
            <a:ext cx="35265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創薬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毒性学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熱力学など</a:t>
            </a:r>
            <a:endParaRPr lang="en-JP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4AF3CE-C4AA-4020-85BF-3C9144FF6FCA}"/>
              </a:ext>
            </a:extLst>
          </p:cNvPr>
          <p:cNvSpPr txBox="1"/>
          <p:nvPr/>
        </p:nvSpPr>
        <p:spPr>
          <a:xfrm>
            <a:off x="4316904" y="2388490"/>
            <a:ext cx="35265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地球温暖化係数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リチウムイオン伝導率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臨床毒性など</a:t>
            </a:r>
            <a:endParaRPr lang="en-JP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6B3CD1-449A-828B-84C6-5442080F0559}"/>
              </a:ext>
            </a:extLst>
          </p:cNvPr>
          <p:cNvSpPr txBox="1"/>
          <p:nvPr/>
        </p:nvSpPr>
        <p:spPr>
          <a:xfrm>
            <a:off x="375646" y="2388489"/>
            <a:ext cx="35265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有機材料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金属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セラミックスなど</a:t>
            </a:r>
            <a:endParaRPr lang="en-JP" sz="20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5D920E8-CDC3-C7AA-98AB-DD9934C2A49D}"/>
              </a:ext>
            </a:extLst>
          </p:cNvPr>
          <p:cNvGrpSpPr/>
          <p:nvPr/>
        </p:nvGrpSpPr>
        <p:grpSpPr>
          <a:xfrm>
            <a:off x="235251" y="3624640"/>
            <a:ext cx="3666897" cy="2895249"/>
            <a:chOff x="235251" y="3624640"/>
            <a:chExt cx="3666897" cy="289524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D80521D-6526-0F71-3786-8C69165FE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251" y="3624640"/>
              <a:ext cx="3666897" cy="289524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00B4925-16F2-D4D9-6CB0-7C518BA97C6E}"/>
                </a:ext>
              </a:extLst>
            </p:cNvPr>
            <p:cNvSpPr/>
            <p:nvPr/>
          </p:nvSpPr>
          <p:spPr>
            <a:xfrm>
              <a:off x="407773" y="3657600"/>
              <a:ext cx="1515762" cy="238897"/>
            </a:xfrm>
            <a:prstGeom prst="rect">
              <a:avLst/>
            </a:prstGeom>
            <a:solidFill>
              <a:srgbClr val="0E10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JP" sz="1000" b="1" dirty="0"/>
                <a:t>Material Featurization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423315B-D90A-9199-A836-CAFC9F2A2A57}"/>
              </a:ext>
            </a:extLst>
          </p:cNvPr>
          <p:cNvGrpSpPr/>
          <p:nvPr/>
        </p:nvGrpSpPr>
        <p:grpSpPr>
          <a:xfrm>
            <a:off x="4163364" y="3624640"/>
            <a:ext cx="3833581" cy="2895249"/>
            <a:chOff x="4163364" y="3624640"/>
            <a:chExt cx="3833581" cy="2895249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02C4FAC-E569-C875-E650-536EAB12A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63364" y="3624640"/>
              <a:ext cx="3833581" cy="289524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49" name="Chord 48">
              <a:extLst>
                <a:ext uri="{FF2B5EF4-FFF2-40B4-BE49-F238E27FC236}">
                  <a16:creationId xmlns:a16="http://schemas.microsoft.com/office/drawing/2014/main" id="{C0387290-1AA2-1B44-FA6F-55AAE0D1D072}"/>
                </a:ext>
              </a:extLst>
            </p:cNvPr>
            <p:cNvSpPr/>
            <p:nvPr/>
          </p:nvSpPr>
          <p:spPr>
            <a:xfrm rot="4349707">
              <a:off x="4248508" y="3636377"/>
              <a:ext cx="120201" cy="197407"/>
            </a:xfrm>
            <a:prstGeom prst="chord">
              <a:avLst/>
            </a:prstGeom>
            <a:solidFill>
              <a:srgbClr val="1A497D"/>
            </a:solidFill>
            <a:ln>
              <a:solidFill>
                <a:srgbClr val="1A49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CEBA0F26-6EA1-801C-AD1C-E7D8C757A2DA}"/>
                </a:ext>
              </a:extLst>
            </p:cNvPr>
            <p:cNvSpPr/>
            <p:nvPr/>
          </p:nvSpPr>
          <p:spPr>
            <a:xfrm rot="21161474">
              <a:off x="7883525" y="3692525"/>
              <a:ext cx="76200" cy="106748"/>
            </a:xfrm>
            <a:custGeom>
              <a:avLst/>
              <a:gdLst>
                <a:gd name="csX0" fmla="*/ 28575 w 117475"/>
                <a:gd name="csY0" fmla="*/ 0 h 130175"/>
                <a:gd name="csX1" fmla="*/ 28575 w 117475"/>
                <a:gd name="csY1" fmla="*/ 0 h 130175"/>
                <a:gd name="csX2" fmla="*/ 69850 w 117475"/>
                <a:gd name="csY2" fmla="*/ 31750 h 130175"/>
                <a:gd name="csX3" fmla="*/ 82550 w 117475"/>
                <a:gd name="csY3" fmla="*/ 50800 h 130175"/>
                <a:gd name="csX4" fmla="*/ 95250 w 117475"/>
                <a:gd name="csY4" fmla="*/ 69850 h 130175"/>
                <a:gd name="csX5" fmla="*/ 101600 w 117475"/>
                <a:gd name="csY5" fmla="*/ 79375 h 130175"/>
                <a:gd name="csX6" fmla="*/ 107950 w 117475"/>
                <a:gd name="csY6" fmla="*/ 88900 h 130175"/>
                <a:gd name="csX7" fmla="*/ 117475 w 117475"/>
                <a:gd name="csY7" fmla="*/ 107950 h 130175"/>
                <a:gd name="csX8" fmla="*/ 95250 w 117475"/>
                <a:gd name="csY8" fmla="*/ 120650 h 130175"/>
                <a:gd name="csX9" fmla="*/ 76200 w 117475"/>
                <a:gd name="csY9" fmla="*/ 130175 h 130175"/>
                <a:gd name="csX10" fmla="*/ 31750 w 117475"/>
                <a:gd name="csY10" fmla="*/ 127000 h 130175"/>
                <a:gd name="csX11" fmla="*/ 22225 w 117475"/>
                <a:gd name="csY11" fmla="*/ 120650 h 130175"/>
                <a:gd name="csX12" fmla="*/ 6350 w 117475"/>
                <a:gd name="csY12" fmla="*/ 101600 h 130175"/>
                <a:gd name="csX13" fmla="*/ 0 w 117475"/>
                <a:gd name="csY13" fmla="*/ 79375 h 130175"/>
                <a:gd name="csX14" fmla="*/ 3175 w 117475"/>
                <a:gd name="csY14" fmla="*/ 60325 h 130175"/>
                <a:gd name="csX15" fmla="*/ 9525 w 117475"/>
                <a:gd name="csY15" fmla="*/ 50800 h 130175"/>
                <a:gd name="csX16" fmla="*/ 19050 w 117475"/>
                <a:gd name="csY16" fmla="*/ 38100 h 130175"/>
                <a:gd name="csX17" fmla="*/ 25400 w 117475"/>
                <a:gd name="csY17" fmla="*/ 28575 h 130175"/>
                <a:gd name="csX18" fmla="*/ 34925 w 117475"/>
                <a:gd name="csY18" fmla="*/ 19050 h 130175"/>
                <a:gd name="csX19" fmla="*/ 28575 w 117475"/>
                <a:gd name="csY19" fmla="*/ 0 h 130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17475" h="130175">
                  <a:moveTo>
                    <a:pt x="28575" y="0"/>
                  </a:moveTo>
                  <a:lnTo>
                    <a:pt x="28575" y="0"/>
                  </a:lnTo>
                  <a:cubicBezTo>
                    <a:pt x="37815" y="6468"/>
                    <a:pt x="60293" y="19462"/>
                    <a:pt x="69850" y="31750"/>
                  </a:cubicBezTo>
                  <a:cubicBezTo>
                    <a:pt x="74535" y="37774"/>
                    <a:pt x="78317" y="44450"/>
                    <a:pt x="82550" y="50800"/>
                  </a:cubicBezTo>
                  <a:lnTo>
                    <a:pt x="95250" y="69850"/>
                  </a:lnTo>
                  <a:lnTo>
                    <a:pt x="101600" y="79375"/>
                  </a:lnTo>
                  <a:cubicBezTo>
                    <a:pt x="103717" y="82550"/>
                    <a:pt x="106743" y="85280"/>
                    <a:pt x="107950" y="88900"/>
                  </a:cubicBezTo>
                  <a:cubicBezTo>
                    <a:pt x="112332" y="102045"/>
                    <a:pt x="109269" y="95640"/>
                    <a:pt x="117475" y="107950"/>
                  </a:cubicBezTo>
                  <a:cubicBezTo>
                    <a:pt x="107909" y="114327"/>
                    <a:pt x="106529" y="115816"/>
                    <a:pt x="95250" y="120650"/>
                  </a:cubicBezTo>
                  <a:cubicBezTo>
                    <a:pt x="76847" y="128537"/>
                    <a:pt x="94505" y="117972"/>
                    <a:pt x="76200" y="130175"/>
                  </a:cubicBezTo>
                  <a:cubicBezTo>
                    <a:pt x="61383" y="129117"/>
                    <a:pt x="46378" y="129581"/>
                    <a:pt x="31750" y="127000"/>
                  </a:cubicBezTo>
                  <a:cubicBezTo>
                    <a:pt x="27992" y="126337"/>
                    <a:pt x="25156" y="123093"/>
                    <a:pt x="22225" y="120650"/>
                  </a:cubicBezTo>
                  <a:cubicBezTo>
                    <a:pt x="16206" y="115634"/>
                    <a:pt x="9918" y="108736"/>
                    <a:pt x="6350" y="101600"/>
                  </a:cubicBezTo>
                  <a:cubicBezTo>
                    <a:pt x="4073" y="97045"/>
                    <a:pt x="1017" y="83444"/>
                    <a:pt x="0" y="79375"/>
                  </a:cubicBezTo>
                  <a:cubicBezTo>
                    <a:pt x="1058" y="73025"/>
                    <a:pt x="1139" y="66432"/>
                    <a:pt x="3175" y="60325"/>
                  </a:cubicBezTo>
                  <a:cubicBezTo>
                    <a:pt x="4382" y="56705"/>
                    <a:pt x="7307" y="53905"/>
                    <a:pt x="9525" y="50800"/>
                  </a:cubicBezTo>
                  <a:cubicBezTo>
                    <a:pt x="12601" y="46494"/>
                    <a:pt x="15974" y="42406"/>
                    <a:pt x="19050" y="38100"/>
                  </a:cubicBezTo>
                  <a:cubicBezTo>
                    <a:pt x="21268" y="34995"/>
                    <a:pt x="22957" y="31506"/>
                    <a:pt x="25400" y="28575"/>
                  </a:cubicBezTo>
                  <a:cubicBezTo>
                    <a:pt x="28275" y="25126"/>
                    <a:pt x="31750" y="22225"/>
                    <a:pt x="34925" y="19050"/>
                  </a:cubicBezTo>
                  <a:lnTo>
                    <a:pt x="28575" y="0"/>
                  </a:lnTo>
                  <a:close/>
                </a:path>
              </a:pathLst>
            </a:custGeom>
            <a:solidFill>
              <a:srgbClr val="1A497D"/>
            </a:solidFill>
            <a:ln>
              <a:solidFill>
                <a:srgbClr val="1A49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919AB42-781B-2F31-F97D-9642D40C6014}"/>
                </a:ext>
              </a:extLst>
            </p:cNvPr>
            <p:cNvSpPr/>
            <p:nvPr/>
          </p:nvSpPr>
          <p:spPr>
            <a:xfrm>
              <a:off x="4289425" y="3654214"/>
              <a:ext cx="863601" cy="166128"/>
            </a:xfrm>
            <a:prstGeom prst="rect">
              <a:avLst/>
            </a:prstGeom>
            <a:solidFill>
              <a:srgbClr val="1A497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JP" sz="1000" dirty="0"/>
                <a:t>Multi-Sigma</a:t>
              </a:r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2EAA84D7-30C4-C4C3-0990-28AA3C13DCA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239" t="16010"/>
          <a:stretch>
            <a:fillRect/>
          </a:stretch>
        </p:blipFill>
        <p:spPr>
          <a:xfrm>
            <a:off x="75793" y="54429"/>
            <a:ext cx="884918" cy="82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73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73</Words>
  <Application>Microsoft Macintosh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Rajapriya</dc:creator>
  <cp:lastModifiedBy>Navin Rajapriya</cp:lastModifiedBy>
  <cp:revision>2</cp:revision>
  <dcterms:created xsi:type="dcterms:W3CDTF">2026-04-30T02:09:23Z</dcterms:created>
  <dcterms:modified xsi:type="dcterms:W3CDTF">2026-04-30T05:46:00Z</dcterms:modified>
</cp:coreProperties>
</file>